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4630400" cy="8229600"/>
  <p:notesSz cx="8229600" cy="14630400"/>
  <p:embeddedFontLst>
    <p:embeddedFont>
      <p:font typeface="Raleway" panose="020F0502020204030204" pitchFamily="2" charset="-52"/>
      <p:regular r:id="rId15"/>
    </p:embeddedFont>
    <p:embeddedFont>
      <p:font typeface="Raleway Light" pitchFamily="2" charset="-52"/>
      <p:regular r:id="rId16"/>
    </p:embeddedFont>
    <p:embeddedFont>
      <p:font typeface="Roboto" panose="02000000000000000000" pitchFamily="2" charset="0"/>
      <p:regular r:id="rId17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214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0696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hesk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43407"/>
            <a:ext cx="754201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Варианты по Service Desk'y: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42912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Готовые решения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793790" y="300061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Общая идея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793790" y="3766066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Есть два варианта бесплатных open-source сервис деска: </a:t>
            </a: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osTicket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и </a:t>
            </a: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Hesk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Это открытые системы обработки заявок, которые устанавливаются на локальный сервер и позволяют пользователям создавать обращения через веб-интерфейс.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194935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Архитектура систем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793790" y="596038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Системы работают по следующей схеме: Пользователь → веб-браузер → сервер osTicket/hesk → база данных Все обращения хранятся централизованно на сервере предприятия.</a:t>
            </a:r>
            <a:endParaRPr lang="en-US" sz="175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CDE2114-AB97-C0BB-AE67-3411F52E276D}"/>
              </a:ext>
            </a:extLst>
          </p:cNvPr>
          <p:cNvSpPr/>
          <p:nvPr/>
        </p:nvSpPr>
        <p:spPr>
          <a:xfrm>
            <a:off x="12185151" y="6672612"/>
            <a:ext cx="2445249" cy="1479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1289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Как это работает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37530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730347"/>
            <a:ext cx="4196358" cy="3048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793790" y="39046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Подача заявки: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4395073"/>
            <a:ext cx="419635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Пользователь заходит через браузер на внутренний сайт. Заполняет простую форму (ФИО, почта, суть проблемы).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337530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730347"/>
            <a:ext cx="4196358" cy="3048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5216962" y="39046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Обработка: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4395073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Исполнитель получает уведомление в панель управления.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337530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730347"/>
            <a:ext cx="4196358" cy="3048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9640133" y="39046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Завершение: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4395073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Исполнитель закрывает тикет. Системы хранят историю всех обращений.</a:t>
            </a:r>
            <a:endParaRPr lang="en-US" sz="1750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9D14A0E-A6AB-B5EC-71EC-5DC3A9D74985}"/>
              </a:ext>
            </a:extLst>
          </p:cNvPr>
          <p:cNvSpPr/>
          <p:nvPr/>
        </p:nvSpPr>
        <p:spPr>
          <a:xfrm>
            <a:off x="12185151" y="6672612"/>
            <a:ext cx="2445249" cy="1479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98345"/>
            <a:ext cx="945153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Требования для установки систем: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160752"/>
            <a:ext cx="4196358" cy="1240393"/>
          </a:xfrm>
          <a:prstGeom prst="roundRect">
            <a:avLst>
              <a:gd name="adj" fmla="val 7680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1051084" y="3418046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Развертывание веб-сервера (Apache)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5216962" y="3160752"/>
            <a:ext cx="4196358" cy="1240393"/>
          </a:xfrm>
          <a:prstGeom prst="roundRect">
            <a:avLst>
              <a:gd name="adj" fmla="val 7680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474256" y="3418046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Развертывание баз данных (MySQL)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9640133" y="3160752"/>
            <a:ext cx="4196358" cy="1240393"/>
          </a:xfrm>
          <a:prstGeom prst="roundRect">
            <a:avLst>
              <a:gd name="adj" fmla="val 7680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9897427" y="3418046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Выделенный локальный сервер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627959"/>
            <a:ext cx="6407944" cy="1603296"/>
          </a:xfrm>
          <a:prstGeom prst="roundRect">
            <a:avLst>
              <a:gd name="adj" fmla="val 5942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1051084" y="4885253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Права локального администратора для установки и настройки служб XAMPP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428548" y="4627959"/>
            <a:ext cx="6407944" cy="1603296"/>
          </a:xfrm>
          <a:prstGeom prst="roundRect">
            <a:avLst>
              <a:gd name="adj" fmla="val 5942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7685842" y="4885253"/>
            <a:ext cx="589335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Настройка локального DNS-имени, чтобы пользователи вводили не IP-адрес, а название нашей системы, например, </a:t>
            </a:r>
            <a:r>
              <a:rPr lang="en-US" sz="1750" u="sng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http://hesk</a:t>
            </a:r>
            <a:endParaRPr lang="en-US" sz="1750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D3FEB0F-F787-B471-CEB4-18AAF7CBF0F4}"/>
              </a:ext>
            </a:extLst>
          </p:cNvPr>
          <p:cNvSpPr/>
          <p:nvPr/>
        </p:nvSpPr>
        <p:spPr>
          <a:xfrm>
            <a:off x="12185151" y="6672612"/>
            <a:ext cx="2445249" cy="1479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61549"/>
            <a:ext cx="8231505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Отличия двух готовых решений: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93790" y="2146697"/>
            <a:ext cx="3232190" cy="403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Hesk: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93790" y="2755344"/>
            <a:ext cx="6258520" cy="2159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Ориентирован на максимально простую форму подачи заявки. Пользователю не обязательно иметь ЛК, он может отслеживать статус по ID тикета. Авторизация для отправки заявок также не требуется.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Представляет собой простую очередь.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Имеется чат внутри тикетов.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585710" y="2146697"/>
            <a:ext cx="3232190" cy="403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osTicket: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585710" y="2755344"/>
            <a:ext cx="6258520" cy="4441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Это приложение более гибкое в плане кастомизации. Существует некоторое количество плагинов, которые могут настраивать приоритеты, просматривать приложенные файлы прямо в тикете, или добавить авторизацию по доменному адресу. Также есть плагин, который позволяет хранить файлы в файловой системе сервера, чтобы не хранить их в базе данных.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Имеет довольно много второстепенных функций, которые в Hesk или реализованы не до конца, или не реализованы совсем: позволяет настраивать разные типы обращений при создании (чтобы сразу классифицировать проблему), поддерживает настройку различных приоритетов заявке.</a:t>
            </a:r>
            <a:endParaRPr lang="en-US" sz="165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AF2CDF1-42D5-6C51-9211-C099319BC03C}"/>
              </a:ext>
            </a:extLst>
          </p:cNvPr>
          <p:cNvSpPr/>
          <p:nvPr/>
        </p:nvSpPr>
        <p:spPr>
          <a:xfrm>
            <a:off x="12483101" y="7196374"/>
            <a:ext cx="2147299" cy="9557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647" y="765096"/>
            <a:ext cx="4469725" cy="2953107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647" y="3860840"/>
            <a:ext cx="5141238" cy="322385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068151" y="736640"/>
            <a:ext cx="5778103" cy="237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endParaRPr lang="en-US" sz="1300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8151" y="1116449"/>
            <a:ext cx="4256365" cy="4516398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791647" y="7369969"/>
            <a:ext cx="13047107" cy="237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Главное меню osTicket, создание заявки в osTicket и отслеживание заявки в osTicket</a:t>
            </a:r>
            <a:endParaRPr lang="en-US" sz="130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24BA487-465B-BB16-D757-536DB948D394}"/>
              </a:ext>
            </a:extLst>
          </p:cNvPr>
          <p:cNvSpPr/>
          <p:nvPr/>
        </p:nvSpPr>
        <p:spPr>
          <a:xfrm>
            <a:off x="12185151" y="6672612"/>
            <a:ext cx="2445249" cy="1479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89" y="938569"/>
            <a:ext cx="6819361" cy="5862703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0969" y="938570"/>
            <a:ext cx="3778845" cy="37567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7190065"/>
            <a:ext cx="1304282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Создание заявки и отслеживание заявки в Hesk</a:t>
            </a:r>
            <a:endParaRPr lang="en-US" sz="1500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B64C360-263E-B32A-94C9-40D9118DF6B9}"/>
              </a:ext>
            </a:extLst>
          </p:cNvPr>
          <p:cNvSpPr/>
          <p:nvPr/>
        </p:nvSpPr>
        <p:spPr>
          <a:xfrm>
            <a:off x="12626939" y="7190064"/>
            <a:ext cx="2003461" cy="962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664012"/>
            <a:ext cx="9092922" cy="65604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349490"/>
            <a:ext cx="1304282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Отправленная заявка в Hesk</a:t>
            </a:r>
            <a:endParaRPr lang="en-US" sz="1250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D7268D2-4481-E7E3-0B14-774227B0013D}"/>
              </a:ext>
            </a:extLst>
          </p:cNvPr>
          <p:cNvSpPr/>
          <p:nvPr/>
        </p:nvSpPr>
        <p:spPr>
          <a:xfrm>
            <a:off x="12185151" y="6672612"/>
            <a:ext cx="2445249" cy="1479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720328"/>
            <a:ext cx="11391781" cy="617077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14625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Панель администратора в Hesk</a:t>
            </a:r>
            <a:endParaRPr lang="en-US" sz="1750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9F0D5B2-D492-85B7-537A-BEA3C3EA4329}"/>
              </a:ext>
            </a:extLst>
          </p:cNvPr>
          <p:cNvSpPr/>
          <p:nvPr/>
        </p:nvSpPr>
        <p:spPr>
          <a:xfrm>
            <a:off x="12719407" y="7335748"/>
            <a:ext cx="1910993" cy="8163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88864"/>
            <a:ext cx="538638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Своя кастомная система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046565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Как будет работать:</a:t>
            </a:r>
            <a:endParaRPr lang="en-US" sz="2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812018"/>
            <a:ext cx="4347567" cy="9072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0604" y="3946088"/>
            <a:ext cx="346114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База данных (PostgreSQL)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4436507"/>
            <a:ext cx="389393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будет физическим хранилищем всех заявок, справочников пользователей и истории заявок на локальном сервере.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357" y="2812018"/>
            <a:ext cx="4347567" cy="9072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68171" y="39460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Flask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368171" y="4436507"/>
            <a:ext cx="3893939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обрабатывает запросы, проверяет права доступа (если нужно) и управляет переходами статусов (например, можно настроить автоматическое присвоение статуса «Новая» для новой заявки).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8924" y="2812018"/>
            <a:ext cx="4347567" cy="9072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715738" y="3946088"/>
            <a:ext cx="331970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Интерфейс (веб-клиент)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9715738" y="4436507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Пользователи открывают браузер, вводят локальный адрес и заполняют простую форму заявки.</a:t>
            </a:r>
            <a:endParaRPr lang="en-US" sz="1750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C80A0BD-C4EC-84F8-EE27-4A78316C7FE9}"/>
              </a:ext>
            </a:extLst>
          </p:cNvPr>
          <p:cNvSpPr/>
          <p:nvPr/>
        </p:nvSpPr>
        <p:spPr>
          <a:xfrm>
            <a:off x="12185151" y="6672612"/>
            <a:ext cx="2445249" cy="1479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61655"/>
            <a:ext cx="10651927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Что будет необходимо для разработки кастомного сервиса: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93790" y="1360646"/>
            <a:ext cx="2211467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Инструменты: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93790" y="1780699"/>
            <a:ext cx="13042821" cy="1106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3.12+, одинаковая версия на обоих ПК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VS Code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PostgreSQL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pgAdmin 4 или DBeaver (графические интерфейсы для управления БД)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93790" y="3030974"/>
            <a:ext cx="6522006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В VS Code нам понадобится следующий список расширений: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93790" y="3451027"/>
            <a:ext cx="13042821" cy="8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Pylance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Jinja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PostgreSQL Viewer (чтобы видеть таблицы базы в ВС Коде)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93790" y="4473297"/>
            <a:ext cx="2832973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И следующие библиотеки: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93790" y="4893350"/>
            <a:ext cx="13042821" cy="2474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Font typeface="+mj-lt"/>
              <a:buAutoNum type="arabicPeriod"/>
            </a:pPr>
            <a:r>
              <a:rPr lang="en-US" sz="11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Flask:</a:t>
            </a: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сам веб-фреймворк.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Font typeface="+mj-lt"/>
              <a:buAutoNum type="arabicPeriod" startAt="2"/>
            </a:pPr>
            <a:r>
              <a:rPr lang="en-US" sz="11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Flask-SQLAlchemy:</a:t>
            </a: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удобная работа с базой через объекты Python.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Font typeface="+mj-lt"/>
              <a:buAutoNum type="arabicPeriod" startAt="3"/>
            </a:pPr>
            <a:r>
              <a:rPr lang="en-US" sz="11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Flask-Migrate:</a:t>
            </a: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чтобы менять структуру базы (добавлять поля), не удаляя данные.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Font typeface="+mj-lt"/>
              <a:buAutoNum type="arabicPeriod" startAt="4"/>
            </a:pPr>
            <a:r>
              <a:rPr lang="en-US" sz="11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Flask-Login:</a:t>
            </a: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готовая система входа и сессий.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Font typeface="+mj-lt"/>
              <a:buAutoNum type="arabicPeriod" startAt="5"/>
            </a:pPr>
            <a:r>
              <a:rPr lang="en-US" sz="11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Flask-WTF:</a:t>
            </a: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для удобных и безопасных форм (создание заявки).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Font typeface="+mj-lt"/>
              <a:buAutoNum type="arabicPeriod" startAt="6"/>
            </a:pPr>
            <a:r>
              <a:rPr lang="en-US" sz="11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Psycopg2-binary:</a:t>
            </a: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драйвер для подключения к PostgreSQL.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Font typeface="+mj-lt"/>
              <a:buAutoNum type="arabicPeriod" startAt="7"/>
            </a:pPr>
            <a:r>
              <a:rPr lang="en-US" sz="11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Waitress:</a:t>
            </a: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WSGI-сервер для запуска готового сервиса в сети.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Font typeface="+mj-lt"/>
              <a:buAutoNum type="arabicPeriod" startAt="8"/>
            </a:pPr>
            <a:r>
              <a:rPr lang="en-US" sz="11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python-dotenv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Font typeface="+mj-lt"/>
              <a:buAutoNum type="arabicPeriod" startAt="9"/>
            </a:pPr>
            <a:r>
              <a:rPr lang="en-US" sz="11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Arrow</a:t>
            </a: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или </a:t>
            </a:r>
            <a:r>
              <a:rPr lang="en-US" sz="11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Pendulum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Font typeface="+mj-lt"/>
              <a:buAutoNum type="arabicPeriod" startAt="10"/>
            </a:pPr>
            <a:r>
              <a:rPr lang="en-US" sz="11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Pillow (PIL)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Font typeface="+mj-lt"/>
              <a:buAutoNum type="arabicPeriod" startAt="11"/>
            </a:pPr>
            <a:r>
              <a:rPr lang="en-US" sz="11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Flask-Uploads</a:t>
            </a:r>
            <a:endParaRPr lang="en-US" sz="115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F52B0E6-A3DE-9194-B2D3-A38C75D77BC2}"/>
              </a:ext>
            </a:extLst>
          </p:cNvPr>
          <p:cNvSpPr/>
          <p:nvPr/>
        </p:nvSpPr>
        <p:spPr>
          <a:xfrm>
            <a:off x="12185151" y="6672612"/>
            <a:ext cx="2445249" cy="1479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26713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Преимущества разработки кастомного сервиса: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197900"/>
            <a:ext cx="6407944" cy="1557576"/>
          </a:xfrm>
          <a:prstGeom prst="roundRect">
            <a:avLst>
              <a:gd name="adj" fmla="val 6116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1028224" y="3432334"/>
            <a:ext cx="593907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 этом случае у нас будет полный контроль над кодом, отсутствие лишних функций, идеальная адаптация под наши процессы.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428548" y="3197900"/>
            <a:ext cx="6408063" cy="1557576"/>
          </a:xfrm>
          <a:prstGeom prst="roundRect">
            <a:avLst>
              <a:gd name="adj" fmla="val 6116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7662982" y="3432334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Гибкость интерфейса.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93790" y="4982289"/>
            <a:ext cx="6407944" cy="1920478"/>
          </a:xfrm>
          <a:prstGeom prst="roundRect">
            <a:avLst>
              <a:gd name="adj" fmla="val 496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1028224" y="5216723"/>
            <a:ext cx="593907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Полный контроль над БД. Мы сможем сами управлять структурой хранения заявок и истории решений именно так, как удобно будет нам для последующей аналитики.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8548" y="4982289"/>
            <a:ext cx="6408063" cy="1920478"/>
          </a:xfrm>
          <a:prstGeom prst="roundRect">
            <a:avLst>
              <a:gd name="adj" fmla="val 496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7662982" y="5216723"/>
            <a:ext cx="59391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 будущем эту систему будет проще интегрировать с данными из баз 1С (если понадобится) или другими внутренними сервисами через API или прямые запросы.</a:t>
            </a:r>
            <a:endParaRPr lang="en-US" sz="1750" dirty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81D4965-5D60-3F27-994C-8AD3A635828E}"/>
              </a:ext>
            </a:extLst>
          </p:cNvPr>
          <p:cNvSpPr/>
          <p:nvPr/>
        </p:nvSpPr>
        <p:spPr>
          <a:xfrm>
            <a:off x="12688584" y="7736440"/>
            <a:ext cx="1941816" cy="415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5399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Недостатки: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616398"/>
            <a:ext cx="6407944" cy="2329101"/>
          </a:xfrm>
          <a:prstGeom prst="roundRect">
            <a:avLst>
              <a:gd name="adj" fmla="val 6282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763310" y="2616398"/>
            <a:ext cx="121920" cy="2329101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1142524" y="2873693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Сроки разработки стабильного кастомного решения будут больше, чем развертывание готового решения.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548" y="2616398"/>
            <a:ext cx="6408063" cy="2329101"/>
          </a:xfrm>
          <a:prstGeom prst="roundRect">
            <a:avLst>
              <a:gd name="adj" fmla="val 6282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7398067" y="2616398"/>
            <a:ext cx="121920" cy="2329101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7777282" y="2873693"/>
            <a:ext cx="580203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Большая сложность настройки окружения. Развертывание Python, Postgre и WSGI сервера в офлайн-сети требует больше сил и времени, чем запуск стандартного пакета XAMPP, на котором работают готовые решения.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5172313"/>
            <a:ext cx="6407944" cy="1603296"/>
          </a:xfrm>
          <a:prstGeom prst="roundRect">
            <a:avLst>
              <a:gd name="adj" fmla="val 9125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763310" y="5172313"/>
            <a:ext cx="121920" cy="1603296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1142524" y="5429607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Если потребуется дописать функционал, его придется писать с нуля, а не просто «скачать плагин», как это можно было бы сделать в готовом решении.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28548" y="5172313"/>
            <a:ext cx="6408063" cy="1603296"/>
          </a:xfrm>
          <a:prstGeom prst="roundRect">
            <a:avLst>
              <a:gd name="adj" fmla="val 9125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7398067" y="5172313"/>
            <a:ext cx="121920" cy="1603296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7777282" y="5429607"/>
            <a:ext cx="58020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Риск зависимости от разработчиков. В случае, если создателей системы не будет на рабочем месте, поддержка кода может стать проблемой.</a:t>
            </a:r>
            <a:endParaRPr lang="en-US" sz="1750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E0060AC1-E482-10B2-F328-A8E5C5F9E236}"/>
              </a:ext>
            </a:extLst>
          </p:cNvPr>
          <p:cNvSpPr/>
          <p:nvPr/>
        </p:nvSpPr>
        <p:spPr>
          <a:xfrm>
            <a:off x="12698858" y="7510408"/>
            <a:ext cx="1931542" cy="6416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733</Words>
  <Application>Microsoft Office PowerPoint</Application>
  <PresentationFormat>Произвольный</PresentationFormat>
  <Paragraphs>88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Roboto</vt:lpstr>
      <vt:lpstr>Arial</vt:lpstr>
      <vt:lpstr>Raleway</vt:lpstr>
      <vt:lpstr>Raleway Light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Леонид Кузнецов</dc:creator>
  <cp:lastModifiedBy>4411</cp:lastModifiedBy>
  <cp:revision>2</cp:revision>
  <dcterms:created xsi:type="dcterms:W3CDTF">2026-03-16T19:49:28Z</dcterms:created>
  <dcterms:modified xsi:type="dcterms:W3CDTF">2026-03-16T19:53:10Z</dcterms:modified>
</cp:coreProperties>
</file>